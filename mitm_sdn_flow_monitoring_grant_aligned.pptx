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MinorProjectReportBEI.pdf, cover page and approval page: project title, team names, and supervisor.
- ProposalFinal-RevisedafterPresentation.pdf, Project Information section: grant title is "Latest Generation Intelligent Network Design, Deployment and Security Prospects Analysis in the Context of Nepal."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MinorProjectReportBEI.pdf, Introduction and Problem Statement: MITM attacks, conventional monitoring limitations, and the need for an SDN-based detection framework.
- ProposalFinal-RevisedafterPresentation.pdf, Research Problem and Justification: Nepal needs context-specific security solutions for next-generation intelligent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MinorProjectReportBEI.pdf, Section 1.3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MinorProjectReportBEI.pdf, Methodology, Experimental Setup, and System Design sections: Mininet, Open vSwitch, Ryu, datasets, preprocessing, RF-RFE, CNN-BiLSTM-Attention, Docker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MinorProjectReportBEI.pdf, Methodology, Data Collection, Feature Engineering, Feature Selection, Model Training Procedure, and Controller Deployment Procedure sections.
- MinorProjectReportBEI.pdf, conclusion summary: about 148,000 labelled records merged, 10 engineered features, top 25 RF-RFE features, Dockerised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MinorProjectReportBEI.pdf, Results and Conclusion sections: 93.85% accuracy, 93.13% precision, 93.78% recall, 93.46% F1-score, 98.65% ROC-AUC, MCC 0.877, and low-variance 5-fold cross-validation.
- MinorProjectReportBEI.pdf, conclusion summary: Mininet topology + Ryu controller + offline-trained classifier with OpenFlow-based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- ProposalFinal-RevisedafterPresentation.pdf, Project title and abstract: grant focuses on latest-generation intelligent network design, deployment, and security prospects analysis in Nepal.
- ProposalFinal-RevisedafterPresentation.pdf, Research Problem and Justification: Nepal needs context-specific security solutions, infrastructure readiness assessment, and policy support.
- ProposalFinal-RevisedafterPresentation.pdf, contributions list: supports national digital transformation, security threat analysis, and secure/sustainable development of Nepal communication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20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Pulchowk Campus • Minor Project Progress Presentation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274320"/>
            <a:ext cx="12191695" cy="63093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1463040"/>
            <a:ext cx="1463040" cy="-36576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1463040"/>
            <a:ext cx="2194560" cy="45720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1463040"/>
            <a:ext cx="457200" cy="128016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2743200"/>
            <a:ext cx="1463040" cy="45720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2743200"/>
            <a:ext cx="-731520" cy="91440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3657600"/>
            <a:ext cx="1371600" cy="91440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4572000"/>
            <a:ext cx="1188720" cy="45720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0" y="3200400"/>
            <a:ext cx="365760" cy="182880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64240" y="1920240"/>
            <a:ext cx="-274320" cy="1280160"/>
          </a:xfrm>
          <a:prstGeom prst="line">
            <a:avLst/>
          </a:prstGeom>
          <a:noFill/>
          <a:ln w="15240">
            <a:solidFill>
              <a:srgbClr val="BFD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59952" y="135331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A19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22992" y="98755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A19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54512" y="181051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A19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17152" y="2633472"/>
            <a:ext cx="219456" cy="21945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80192" y="309067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A19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85632" y="354787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A19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57232" y="446227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A19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045952" y="491947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A19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1051560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EAF2F8"/>
          </a:solidFill>
          <a:ln w="12700">
            <a:solidFill>
              <a:srgbClr val="EAF2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11556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AA5"/>
                </a:solidFill>
              </a:rPr>
              <a:t>Minor Project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1554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of Man-in-the-Middle Attacks in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Software-Defined Networks Using Flow-Level Monitoring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85800" y="315468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</a:rPr>
              <a:t>Progress presentation aligned with the grant theme on intelligent network design, deployment, and security in Nepal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76656" y="4069080"/>
            <a:ext cx="29260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297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AA5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544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Aeva Acharya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Austina Aryal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Prashamsa Aryal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94760" y="4069080"/>
            <a:ext cx="27889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4297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AA5"/>
                </a:solidFill>
              </a:rPr>
              <a:t>Supervisor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45445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</a:rPr>
              <a:t>Prof. Dr. Babu Ram Dawadi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</a:rPr>
              <a:t>Department of Electronics and Computer Engineering</a:t>
            </a:r>
            <a:endParaRPr lang="en-US" sz="1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20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Pulchowk Campus • Minor Project Progress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Statement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932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</a:rPr>
              <a:t>Why this research problem matters now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F6AA5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7218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Threat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1417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2AA198"/>
          </a:solidFill>
          <a:ln w="12700">
            <a:solidFill>
              <a:srgbClr val="2AA19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147218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47218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Research Need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A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MITM attacks remain serious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9536" y="269748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Attackers can intercept, modify, or inject traffic between legitimate hosts, threatening confidentiality, integrity, and authenticity.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069080" y="187452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70248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A1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Conventional visibility is weak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270248" y="269748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Traditional networks depend on distributed monitoring, so sophisticated attacks can persist with delayed or incomplete detection.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79792" y="187452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SDN enables a practical solution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680960" y="269748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Flow-level monitoring in SDN offers centralized visibility and programmability, making real-time detection with lower overhead feasible.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AA198"/>
          </a:solidFill>
          <a:ln w="12700">
            <a:solidFill>
              <a:srgbClr val="2AA19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20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Pulchowk Campus • Minor Project Progress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932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</a:rPr>
              <a:t>What the project is trying to achieve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00200"/>
            <a:ext cx="10698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98755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implement an SDN-based framework to detect IPv4-based MITM attacks using flow-level traffic analysis.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standardized public datasets together with collected traffic records to train and validate the detection model.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the proposed system in terms of detection accuracy, detection delay, and system overhead.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96112" y="2103120"/>
            <a:ext cx="237744" cy="237744"/>
          </a:xfrm>
          <a:prstGeom prst="ellipse">
            <a:avLst/>
          </a:prstGeom>
          <a:solidFill>
            <a:srgbClr val="1F6AA5"/>
          </a:solidFill>
          <a:ln w="15240">
            <a:solidFill>
              <a:srgbClr val="1F6A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3273552"/>
            <a:ext cx="237744" cy="237744"/>
          </a:xfrm>
          <a:prstGeom prst="ellipse">
            <a:avLst/>
          </a:prstGeom>
          <a:solidFill>
            <a:srgbClr val="2AA198"/>
          </a:solidFill>
          <a:ln w="15240">
            <a:solidFill>
              <a:srgbClr val="2AA19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4443984"/>
            <a:ext cx="237744" cy="23774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C6282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20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Pulchowk Campus • Minor Project Progress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 / Research Plan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932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</a:rPr>
              <a:t>Planned workflow for the study and system implementation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75104"/>
            <a:ext cx="1691640" cy="411480"/>
          </a:xfrm>
          <a:prstGeom prst="roundRect">
            <a:avLst>
              <a:gd name="adj" fmla="val 15556"/>
            </a:avLst>
          </a:prstGeom>
          <a:solidFill>
            <a:srgbClr val="1F6AA5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7568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SDN testbed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2615184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Mininet + OVS + Ryu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Victim, server, attacker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ARP spoofing scenarios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2487168" y="3310128"/>
            <a:ext cx="310896" cy="347472"/>
          </a:xfrm>
          <a:prstGeom prst="chevron">
            <a:avLst/>
          </a:prstGeom>
          <a:solidFill>
            <a:srgbClr val="BFD6E8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7208" y="182880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9FCFD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4368" y="1975104"/>
            <a:ext cx="1691640" cy="411480"/>
          </a:xfrm>
          <a:prstGeom prst="roundRect">
            <a:avLst>
              <a:gd name="adj" fmla="val 15556"/>
            </a:avLst>
          </a:prstGeom>
          <a:solidFill>
            <a:srgbClr val="2AA198"/>
          </a:solidFill>
          <a:ln w="12700">
            <a:solidFill>
              <a:srgbClr val="2AA19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07568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Data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615184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Merge labelled datasets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Preprocess and binarise labels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Create unified feature table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791456" y="3310128"/>
            <a:ext cx="310896" cy="347472"/>
          </a:xfrm>
          <a:prstGeom prst="chevron">
            <a:avLst/>
          </a:prstGeom>
          <a:solidFill>
            <a:srgbClr val="BFD6E8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2880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8656" y="1975104"/>
            <a:ext cx="1691640" cy="411480"/>
          </a:xfrm>
          <a:prstGeom prst="roundRect">
            <a:avLst>
              <a:gd name="adj" fmla="val 15556"/>
            </a:avLst>
          </a:prstGeom>
          <a:solidFill>
            <a:srgbClr val="1E8E3E"/>
          </a:solidFill>
          <a:ln w="12700">
            <a:solidFill>
              <a:srgbClr val="1E8E3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207568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Feature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76088" y="2615184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Engineer asymmetry and ratio features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Select top 25 features with RF-RFE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095744" y="3310128"/>
            <a:ext cx="310896" cy="347472"/>
          </a:xfrm>
          <a:prstGeom prst="chevron">
            <a:avLst/>
          </a:prstGeom>
          <a:solidFill>
            <a:srgbClr val="BFD6E8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15784" y="182880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9FCFD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944" y="1975104"/>
            <a:ext cx="1691640" cy="411480"/>
          </a:xfrm>
          <a:prstGeom prst="roundRect">
            <a:avLst>
              <a:gd name="adj" fmla="val 15556"/>
            </a:avLst>
          </a:prstGeom>
          <a:solidFill>
            <a:srgbClr val="1F6AA5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6096" y="207568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Detection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0376" y="2615184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Train CNN-BiLSTM-Attention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Validate with holdout test and 5-fold CV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9400032" y="3310128"/>
            <a:ext cx="310896" cy="347472"/>
          </a:xfrm>
          <a:prstGeom prst="chevron">
            <a:avLst/>
          </a:prstGeom>
          <a:solidFill>
            <a:srgbClr val="BFD6E8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20072" y="182880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7232" y="1975104"/>
            <a:ext cx="1691640" cy="411480"/>
          </a:xfrm>
          <a:prstGeom prst="roundRect">
            <a:avLst>
              <a:gd name="adj" fmla="val 15556"/>
            </a:avLst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0384" y="207568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Controller integration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84664" y="2615184"/>
            <a:ext cx="1627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Load scaler + features + model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Monitor flows in real time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Trigger alerts / blocking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AA198"/>
          </a:solidFill>
          <a:ln w="12700">
            <a:solidFill>
              <a:srgbClr val="2AA19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20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Pulchowk Campus • Minor Project Progress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 Till Date - Implementation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932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</a:rPr>
              <a:t>Completed technical work so far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5087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83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A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 pipeline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466344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review on SDN security, MITM attacks, ARP spoofing, and flow-level monitoring completed.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SDN testbed built using Mininet, Open vSwitch, and Ryu controller.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and malicious traffic scenarios prepared for flow collection and controller testing.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heterogeneous labelled datasets merged and preprocessed into a unified dataset.</a:t>
            </a:r>
            <a:endParaRPr lang="en-US" sz="1780" dirty="0"/>
          </a:p>
        </p:txBody>
      </p:sp>
      <p:sp>
        <p:nvSpPr>
          <p:cNvPr id="12" name="Text 10"/>
          <p:cNvSpPr/>
          <p:nvPr/>
        </p:nvSpPr>
        <p:spPr>
          <a:xfrm>
            <a:off x="6446520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A1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and deployment readiness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52628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Domain-specific engineered features created for MITM behaviour analysis.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25 discriminative features selected using RF-RFE.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CNN-BiLSTM-Attention model trained and saved together with scaler and feature files.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Docker-based controller deployment workflow prepared for reproducibility.</a:t>
            </a:r>
            <a:endParaRPr lang="en-US" sz="1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20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Pulchowk Campus • Minor Project Progress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 Till Date - Results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932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</a:rPr>
              <a:t>Current quantitative status of the project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6A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93.85%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2907792" y="1783080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AA1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93.13%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175504" y="1783080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85232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Recall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8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93.78%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443216" y="1783080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52944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F1-score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52944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93.46%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9710928" y="1783080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20656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ROC-AUC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20656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98.65%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13232" y="333756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F9FCFD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611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A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outcomes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44805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Approx. 148,000 labelled flow records merged and preprocessed.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achieved strong class balance with MCC = 0.877.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5-fold cross-validation showed stable generalisation with very low variance.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5989320" y="33375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9FCFD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A1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status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0" y="3977640"/>
            <a:ext cx="45720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integrates Mininet topology, Ryu controller, and offline-trained classifier.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logic supports real-time monitoring and attacker blocking through OpenFlow rules.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3D59"/>
          </a:solidFill>
          <a:ln w="12700">
            <a:solidFill>
              <a:srgbClr val="143D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20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Pulchowk Campus • Minor Project Progress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D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Association with Grant and National Contribution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932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</a:rPr>
              <a:t>How the project contributes to Nepal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0020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56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Association with grant title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466344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fits the grant theme: intelligent network design, deployment, and security prospects analysis in Nepal.</a:t>
            </a:r>
            <a:endParaRPr lang="en-US" sz="1760" dirty="0"/>
          </a:p>
          <a:p>
            <a:pPr marL="177800" indent="-177800">
              <a:buSzPct val="100000"/>
              <a:buChar char="•"/>
            </a:pPr>
            <a:r>
              <a:rPr lang="en-US" sz="1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 the SDN security dimension of the grant through AI/ML-based anomaly detection and SDN-enabled response.</a:t>
            </a:r>
            <a:endParaRPr lang="en-US" sz="1760" dirty="0"/>
          </a:p>
          <a:p>
            <a:pPr marL="177800" indent="-177800">
              <a:buSzPct val="100000"/>
              <a:buChar char="•"/>
            </a:pPr>
            <a:r>
              <a:rPr lang="en-US" sz="1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 focused, testbed-driven case study under the broader next-generation network research agenda.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6510528" y="1856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A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National contribution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240280"/>
            <a:ext cx="45262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the security readiness of future ISP, campus, enterprise, and government SDN deployments in Nepal.</a:t>
            </a:r>
            <a:endParaRPr lang="en-US" sz="1760" dirty="0"/>
          </a:p>
          <a:p>
            <a:pPr marL="177800" indent="-177800">
              <a:buSzPct val="100000"/>
              <a:buChar char="•"/>
            </a:pPr>
            <a:r>
              <a:rPr lang="en-US" sz="1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national digital transformation through secure, scalable, and efficient communication infrastructure.</a:t>
            </a:r>
            <a:endParaRPr lang="en-US" sz="1760" dirty="0"/>
          </a:p>
          <a:p>
            <a:pPr marL="177800" indent="-177800">
              <a:buSzPct val="100000"/>
              <a:buChar char="•"/>
            </a:pPr>
            <a:r>
              <a:rPr lang="en-US" sz="1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local research capacity using a practical and low-cost cybersecurity testbed relevant to Nepal.</a:t>
            </a:r>
            <a:endParaRPr lang="en-US" sz="1760" dirty="0"/>
          </a:p>
        </p:txBody>
      </p:sp>
      <p:sp>
        <p:nvSpPr>
          <p:cNvPr id="14" name="Shape 12"/>
          <p:cNvSpPr/>
          <p:nvPr/>
        </p:nvSpPr>
        <p:spPr>
          <a:xfrm>
            <a:off x="5715000" y="3337560"/>
            <a:ext cx="320040" cy="411480"/>
          </a:xfrm>
          <a:prstGeom prst="chevron">
            <a:avLst/>
          </a:prstGeom>
          <a:solidFill>
            <a:srgbClr val="F4C7C3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MITM Detection in SDN Using Flow-Level Monitoring</dc:title>
  <dc:subject>Detection of MITM Attacks in SDN Using Flow-Level Monitoring</dc:subject>
  <dc:creator>OpenAI</dc:creator>
  <cp:lastModifiedBy>OpenAI</cp:lastModifiedBy>
  <cp:revision>1</cp:revision>
  <dcterms:created xsi:type="dcterms:W3CDTF">2026-03-23T16:32:47Z</dcterms:created>
  <dcterms:modified xsi:type="dcterms:W3CDTF">2026-03-23T16:32:47Z</dcterms:modified>
</cp:coreProperties>
</file>